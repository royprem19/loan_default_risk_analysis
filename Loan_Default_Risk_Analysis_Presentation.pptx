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563EB"/>
                </a:solidFill>
                <a:latin typeface="Arial"/>
              </a:defRPr>
            </a:pPr>
            <a:r>
              <a:t>🏦 Credit Risk Assessment:</a:t>
            </a:r>
          </a:p>
          <a:p>
            <a:pPr>
              <a:spcAft>
                <a:spcPts val="2000"/>
              </a:spcAft>
              <a:defRPr sz="4000" b="1">
                <a:solidFill>
                  <a:srgbClr val="FFFFFF"/>
                </a:solidFill>
                <a:latin typeface="Arial"/>
              </a:defRPr>
            </a:pPr>
            <a:r>
              <a:t>Loan Default Prediction &amp; Analytics</a:t>
            </a:r>
          </a:p>
          <a:p>
            <a:pPr>
              <a:defRPr sz="1800">
                <a:solidFill>
                  <a:srgbClr val="F1F5F9"/>
                </a:solidFill>
                <a:latin typeface="Arial"/>
              </a:defRPr>
            </a:pPr>
            <a:r>
              <a:t>An End-to-End Machine Learning Web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Project Type: Internship Project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Domain: Data Analytics  |  Year: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Problem Statement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Internship Project  |  Data Analytics  |  Year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563EB"/>
                </a:solidFill>
              </a:defRPr>
            </a:pPr>
            <a:r>
              <a:t>🔴 The Core Challenge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</a:defRPr>
            </a:pPr>
            <a:r>
              <a:t>• Financial institutions lose billions annually due to non-performing loans (defaults).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</a:defRPr>
            </a:pPr>
            <a:r>
              <a:t>• Traditional credit scoring methods are static and miss complex risk factor interactions.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</a:defRPr>
            </a:pPr>
            <a:r>
              <a:t>• Missing a default (False Negative) is highly critical and expensive compared to incorrectly declining a good customer (False Positive).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563EB"/>
                </a:solidFill>
              </a:defRPr>
            </a:pPr>
            <a:r>
              <a:t>🎯 Project Objectives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</a:defRPr>
            </a:pPr>
            <a:r>
              <a:t>✓ Build an ML model that predicts borrower default risk accurately.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</a:defRPr>
            </a:pPr>
            <a:r>
              <a:t>✓ Optimize the classification threshold for Recall to capture the maximum number of potential defaults.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</a:defRPr>
            </a:pPr>
            <a:r>
              <a:t>✓ Deploy a responsive, production-quality dashboard for risk assessment and real-time scenario simulation.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Dataset Overview &amp;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Internship Project  |  Data Analytics  |  Year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2563EB"/>
                </a:solidFill>
              </a:defRPr>
            </a:pPr>
            <a:r>
              <a:t>📊 Dataset Scale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</a:defRPr>
            </a:pPr>
            <a:r>
              <a:t>➤ Total Observations: 255,347 loans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</a:defRPr>
            </a:pPr>
            <a:r>
              <a:t>➤ Number of Features: 17 columns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</a:defRPr>
            </a:pPr>
            <a:r>
              <a:t>➤ Target Variable: Default (0 = Repaid, 1 = Defaulted)</a:t>
            </a:r>
          </a:p>
          <a:p>
            <a:pPr>
              <a:spcAft>
                <a:spcPts val="1200"/>
              </a:spcAft>
              <a:defRPr sz="1400">
                <a:solidFill>
                  <a:srgbClr val="1E293B"/>
                </a:solidFill>
              </a:defRPr>
            </a:pPr>
            <a:r>
              <a:t>➤ Imbalanced Classes: ~11.6% Default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46304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2563EB"/>
                </a:solidFill>
              </a:defRPr>
            </a:pPr>
            <a:r>
              <a:t>⚙️ Engineering Pipeline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• Data Cleaning: Verified integrity, handled missing inputs, validated formats.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• Categorical Encoding: Mapped text fields (Education, EmploymentType, MaritalStatus, LoanPurpose, Yes/No fields) using scikit-learn LabelEncoder.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• Feature Scaling: Normalised variables like Income and Credit Score with StandardScaler to aid convergence.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• Stratification: Preserved the 11.6% default ratio during splits.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Key Exploratory Data Analysis (EDA)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Internship Project  |  Data Analytics  |  Year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563EB"/>
                </a:solidFill>
              </a:defRPr>
            </a:pPr>
            <a:r>
              <a:t>💳 Interest Rates &amp; Default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A clear, exponential risk increase matches higher interest rates.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Borrowers assigned rates over 15% exhibit elevated default probabilities.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Suggests that aggressive pricing strategies worsen adverse selection.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4592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563EB"/>
                </a:solidFill>
              </a:defRPr>
            </a:pPr>
            <a:r>
              <a:t>📊 Debt-to-Income (DTI)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DTI represents a critical credit risk factor.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Default risk spikes when DTI ratios exceed 40%, pointing to borrower over-leverage.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Essential to check DTI along with absolute income.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645920"/>
            <a:ext cx="3383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563EB"/>
                </a:solidFill>
              </a:defRPr>
            </a:pPr>
            <a:r>
              <a:t>🤝 Has Co-Signer Influence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A co-signer functions as an effective risk mitigator.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The default rate among borrowers with co-signers drops significantly.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Highlights the value of shared legal liability in risk models.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Model Selection &amp; Performance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Internship Project  |  Data Analytics  |  Year 2026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Accuracy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Precision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Recall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F1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ROC AUC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80.14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19.58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22.85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21.08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55.26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88.64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63.66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5.11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9.46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75.78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88.52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60.24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3.32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6.30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75.31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88.53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64.15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2.87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5.49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73.63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Tuned Random Forest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78.07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26.00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50.00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35.00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73.66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8463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563EB"/>
                </a:solidFill>
              </a:defRPr>
            </a:pPr>
            <a:r>
              <a:t>💡 Observation on Accuracy &amp; Recall trade-offs:</a:t>
            </a:r>
          </a:p>
          <a:p>
            <a:pPr>
              <a:defRPr sz="1350">
                <a:solidFill>
                  <a:srgbClr val="1E293B"/>
                </a:solidFill>
              </a:defRPr>
            </a:pPr>
            <a:r>
              <a:t>While standard Random Forest and Gradient Boosting produce high raw accuracy (88.5%), they yield extremely poor Recall (&lt;5%). They miss 95%+ of defaults. Tuning hyperparameters and balancing class weights allows the Tuned Random Forest to catch 50.00% of defaults.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The Accuracy Trap: Why Recall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Internship Project  |  Data Analytics  |  Year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⚠️ The Accuracy Trap in Credit Risk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• A model that predicts 'No Default' for every borrower achieves 88.4% accuracy due to class imbalance.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• However, this naive model causes 100% loss on defaults because zero defaults are captured.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• Raw accuracy is a dangerous metric for risk assessment databases.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🛡️ How We Solved It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✓ Balanced Class Weights: Balanced class-weighting penalizes the model severely for missing defaults.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✓ Hyperparameter Tuning: Optimized parameters to prioritize recall while keeping ROC-AUC stable.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✓ Outcome: caught 50.00% of defaults, directly protecting the bank's lending portfolio from unrecoverable write-offs.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Tuned Random Forest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Internship Project  |  Data Analytics  |  Year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560320" cy="1645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>
                <a:solidFill>
                  <a:srgbClr val="F1F5F9"/>
                </a:solidFill>
              </a:defRPr>
            </a:pPr>
            <a:r>
              <a:t>Accuracy</a:t>
            </a:r>
          </a:p>
          <a:p>
            <a:pPr algn="ctr">
              <a:spcAft>
                <a:spcPts val="400"/>
              </a:spcAft>
              <a:defRPr sz="2800" b="1">
                <a:solidFill>
                  <a:srgbClr val="FFFFFF"/>
                </a:solidFill>
              </a:defRPr>
            </a:pPr>
            <a:r>
              <a:t>78.07%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Overall prediction correctness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645920"/>
            <a:ext cx="2560320" cy="1645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>
                <a:solidFill>
                  <a:srgbClr val="F1F5F9"/>
                </a:solidFill>
              </a:defRPr>
            </a:pPr>
            <a:r>
              <a:t>Default Recall</a:t>
            </a:r>
          </a:p>
          <a:p>
            <a:pPr algn="ctr">
              <a:spcAft>
                <a:spcPts val="400"/>
              </a:spcAft>
              <a:defRPr sz="2800" b="1">
                <a:solidFill>
                  <a:srgbClr val="FFFFFF"/>
                </a:solidFill>
              </a:defRPr>
            </a:pPr>
            <a:r>
              <a:t>50.00%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Percentage of defaults captured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2560320" cy="1645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>
                <a:solidFill>
                  <a:srgbClr val="F1F5F9"/>
                </a:solidFill>
              </a:defRPr>
            </a:pPr>
            <a:r>
              <a:t>ROC AUC</a:t>
            </a:r>
          </a:p>
          <a:p>
            <a:pPr algn="ctr">
              <a:spcAft>
                <a:spcPts val="400"/>
              </a:spcAft>
              <a:defRPr sz="2800" b="1">
                <a:solidFill>
                  <a:srgbClr val="FFFFFF"/>
                </a:solidFill>
              </a:defRPr>
            </a:pPr>
            <a:r>
              <a:t>73.66%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Model discrimination 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0" y="1645920"/>
            <a:ext cx="2560320" cy="1645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>
                <a:solidFill>
                  <a:srgbClr val="F1F5F9"/>
                </a:solidFill>
              </a:defRPr>
            </a:pPr>
            <a:r>
              <a:t>F1 Score</a:t>
            </a:r>
          </a:p>
          <a:p>
            <a:pPr algn="ctr">
              <a:spcAft>
                <a:spcPts val="400"/>
              </a:spcAft>
              <a:defRPr sz="2800" b="1">
                <a:solidFill>
                  <a:srgbClr val="FFFFFF"/>
                </a:solidFill>
              </a:defRPr>
            </a:pPr>
            <a:r>
              <a:t>35.00%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Harmonic mean of Recall &amp; 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563EB"/>
                </a:solidFill>
              </a:defRPr>
            </a:pPr>
            <a:r>
              <a:t>🔬 Performance Interpretation</a:t>
            </a:r>
          </a:p>
          <a:p>
            <a:pPr>
              <a:spcAft>
                <a:spcPts val="600"/>
              </a:spcAft>
              <a:defRPr sz="1350">
                <a:solidFill>
                  <a:srgbClr val="1E293B"/>
                </a:solidFill>
              </a:defRPr>
            </a:pPr>
            <a:r>
              <a:t>• Recall optimization succeeds: catching 50% of defaults prevents significant credit write-offs.</a:t>
            </a:r>
          </a:p>
          <a:p>
            <a:pPr>
              <a:spcAft>
                <a:spcPts val="600"/>
              </a:spcAft>
              <a:defRPr sz="1350">
                <a:solidFill>
                  <a:srgbClr val="1E293B"/>
                </a:solidFill>
              </a:defRPr>
            </a:pPr>
            <a:r>
              <a:t>• AUC score of 73.66% confirms the model has solid ranking capabilities, distinguishing between risk profiles effectively.</a:t>
            </a:r>
          </a:p>
          <a:p>
            <a:pPr>
              <a:spcAft>
                <a:spcPts val="600"/>
              </a:spcAft>
              <a:defRPr sz="1350">
                <a:solidFill>
                  <a:srgbClr val="1E293B"/>
                </a:solidFill>
              </a:defRPr>
            </a:pPr>
            <a:r>
              <a:t>• Precision of 26.00% means some good accounts are flagged as risky. This is an acceptable operational trade-off: flagging borderline profiles for manual credit reviews is cheaper than approving default-bound loans.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Confusion Matrix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Internship Project  |  Data Analytics  |  Year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563EB"/>
                </a:solidFill>
              </a:defRPr>
            </a:pPr>
            <a:r>
              <a:t>🎯 Prediction vs. Actual Outcomes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286000"/>
          <a:ext cx="5303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6705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Actual / Pred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No Default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Default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No Default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36,904 (TN)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991B1B"/>
                          </a:solidFill>
                        </a:defRPr>
                      </a:pPr>
                      <a:r>
                        <a:t>8,235 (FP)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Default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991B1B"/>
                          </a:solidFill>
                        </a:defRPr>
                      </a:pPr>
                      <a:r>
                        <a:t>2,967 (FN)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2,964 (TP)</a:t>
                      </a: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179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📊 Core Insights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True Negatives: 36,904 borrowers are correctly identified as low risk and approved automatically.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True Positives: 2,964 defaulters are caught. Preventing these defaults saves massive capital loss.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False Positives: 8,235 good customers were flagged. While causing review overhead, this keeps the credit quality high.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• False Negatives: 2,967 defaults were missed. Reducing this rate further represents a path for future iterations.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Feature Importance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Internship Project  |  Data Analytics  |  Year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563EB"/>
                </a:solidFill>
              </a:defRPr>
            </a:pPr>
            <a:r>
              <a:t>🏗️ Top 10 Most Important Features</a:t>
            </a:r>
          </a:p>
          <a:p>
            <a:pPr>
              <a:spcAft>
                <a:spcPts val="400"/>
              </a:spcAft>
              <a:defRPr sz="1350" b="1">
                <a:solidFill>
                  <a:srgbClr val="1E293B"/>
                </a:solidFill>
              </a:defRPr>
            </a:pPr>
            <a:r>
              <a:t>1. Income (12.6%)</a:t>
            </a:r>
          </a:p>
          <a:p>
            <a:pPr>
              <a:spcAft>
                <a:spcPts val="400"/>
              </a:spcAft>
              <a:defRPr sz="1350" b="1">
                <a:solidFill>
                  <a:srgbClr val="1E293B"/>
                </a:solidFill>
              </a:defRPr>
            </a:pPr>
            <a:r>
              <a:t>2. InterestRate (12.1%)</a:t>
            </a:r>
          </a:p>
          <a:p>
            <a:pPr>
              <a:spcAft>
                <a:spcPts val="400"/>
              </a:spcAft>
              <a:defRPr sz="1350" b="1">
                <a:solidFill>
                  <a:srgbClr val="1E293B"/>
                </a:solidFill>
              </a:defRPr>
            </a:pPr>
            <a:r>
              <a:t>3. LoanAmount (11.3%)</a:t>
            </a:r>
          </a:p>
          <a:p>
            <a:pPr>
              <a:spcAft>
                <a:spcPts val="400"/>
              </a:spcAft>
              <a:defRPr sz="1350" b="1">
                <a:solidFill>
                  <a:srgbClr val="1E293B"/>
                </a:solidFill>
              </a:defRPr>
            </a:pPr>
            <a:r>
              <a:t>4. Age (10.3%)</a:t>
            </a:r>
          </a:p>
          <a:p>
            <a:pPr>
              <a:spcAft>
                <a:spcPts val="400"/>
              </a:spcAft>
              <a:defRPr sz="1350" b="1">
                <a:solidFill>
                  <a:srgbClr val="1E293B"/>
                </a:solidFill>
              </a:defRPr>
            </a:pPr>
            <a:r>
              <a:t>5. CreditScore (10.1%)</a:t>
            </a:r>
          </a:p>
          <a:p>
            <a:pPr>
              <a:spcAft>
                <a:spcPts val="400"/>
              </a:spcAft>
              <a:defRPr sz="1350" b="1">
                <a:solidFill>
                  <a:srgbClr val="1E293B"/>
                </a:solidFill>
              </a:defRPr>
            </a:pPr>
            <a:r>
              <a:t>6. MonthsEmployed (9.8%)</a:t>
            </a:r>
          </a:p>
          <a:p>
            <a:pPr>
              <a:spcAft>
                <a:spcPts val="400"/>
              </a:spcAft>
              <a:defRPr sz="1350" b="1">
                <a:solidFill>
                  <a:srgbClr val="1E293B"/>
                </a:solidFill>
              </a:defRPr>
            </a:pPr>
            <a:r>
              <a:t>7. DTIRatio (8.8%)</a:t>
            </a:r>
          </a:p>
          <a:p>
            <a:pPr>
              <a:spcAft>
                <a:spcPts val="400"/>
              </a:spcAft>
              <a:defRPr sz="1350" b="1">
                <a:solidFill>
                  <a:srgbClr val="1E293B"/>
                </a:solidFill>
              </a:defRPr>
            </a:pPr>
            <a:r>
              <a:t>8. LoanTerm (4.1%)</a:t>
            </a:r>
          </a:p>
          <a:p>
            <a:pPr>
              <a:spcAft>
                <a:spcPts val="400"/>
              </a:spcAft>
              <a:defRPr sz="1350" b="1">
                <a:solidFill>
                  <a:srgbClr val="1E293B"/>
                </a:solidFill>
              </a:defRPr>
            </a:pPr>
            <a:r>
              <a:t>9. NumCreditLines (3.3%)</a:t>
            </a:r>
          </a:p>
          <a:p>
            <a:pPr>
              <a:spcAft>
                <a:spcPts val="400"/>
              </a:spcAft>
              <a:defRPr sz="1350" b="1">
                <a:solidFill>
                  <a:srgbClr val="1E293B"/>
                </a:solidFill>
              </a:defRPr>
            </a:pPr>
            <a:r>
              <a:t>10. EmploymentType (2.5%)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📊 Key Findings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Financial Strengths rule risk assessment: Income, Loan Amount, and DTI represent the most critical risk drivers.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Pricing risk: Interest Rate is a high predictor, indicating that borrowers assigned high-interest loans default at much higher rates.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Borrower history: Credit score, age, and employment stability (MonthsEmployed) provide critical contextual signals that prevent false approvals.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Interactive Web Dashboard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Internship Project  |  Data Analytics  |  Year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💻 Technical Architecture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Framework: Developed completely in Python using Streamlit for rapid deployment.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Visuals: Fully interactive Plotly Express charts with hovering and filtering options.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Model Integration: Pre-trained scaler and models loaded via joblib for instant predictions.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• Responsive Styling: Custom dark-mode UI with high-contrast metric layouts.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💡 Interactive Features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✓ Interactive EDA: Allows risk officers to segment distributions and view correlation heatmaps dynamically.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✓ Probability Gauge: Displays the exact default risk percentage for input parameters.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✓ Risk Tier Alert: Categorizes borrowers into Low, Medium, and High-risk tiers.</a:t>
            </a:r>
          </a:p>
          <a:p>
            <a:pPr>
              <a:spcAft>
                <a:spcPts val="1000"/>
              </a:spcAft>
              <a:defRPr sz="1350">
                <a:solidFill>
                  <a:srgbClr val="1E293B"/>
                </a:solidFill>
              </a:defRPr>
            </a:pPr>
            <a:r>
              <a:t>✓ Dataset Download: Streamlines exporting the entire preprocessed dataset.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Business Impact &amp; Actionable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Internship Project  |  Data Analytics  |  Year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2563EB"/>
                </a:solidFill>
              </a:defRPr>
            </a:pPr>
            <a:r>
              <a:t>📈 Policy Action Items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1. Dynamic Interest Rate Capping: Constrain interest rates under 15% for applicants with borderline credit scores unless a co-signer is present.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2. Strict Debt-to-Income Rules: Implement automated secondary audits for applicants exceeding the 40% DTI risk threshold.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3. Focus on Co-Signer Incentives: Offer lower rates or terms to high-risk profiles if they include a qualified co-signer to offset default risk.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4. Operationalizing False Positives: Route the 8,235 flagged borderline applicants to manual credit agents rather than declining automatically. This protects client relations while weeding out true defaulters.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2563EB"/>
                </a:solidFill>
              </a:defRPr>
            </a:pPr>
            <a:r>
              <a:t>Thank You!</a:t>
            </a:r>
          </a:p>
          <a:p>
            <a:pPr>
              <a:spcAft>
                <a:spcPts val="2000"/>
              </a:spcAft>
              <a:defRPr sz="2800" b="1">
                <a:solidFill>
                  <a:srgbClr val="FFFFFF"/>
                </a:solidFill>
              </a:defRPr>
            </a:pPr>
            <a:r>
              <a:t>Questions &amp; Answers</a:t>
            </a:r>
          </a:p>
          <a:p>
            <a:pPr>
              <a:defRPr sz="1400">
                <a:solidFill>
                  <a:srgbClr val="F1F5F9"/>
                </a:solidFill>
              </a:defRPr>
            </a:pPr>
            <a:r>
              <a:t>GitHub Repository: https://github.com/royprem19/Loan_Default_Risk_Analysis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